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e358afd270448e" /><Relationship Type="http://schemas.openxmlformats.org/officeDocument/2006/relationships/extended-properties" Target="/docProps/app.xml" Id="R11e7bbd46bb94328" /><Relationship Type="http://schemas.openxmlformats.org/officeDocument/2006/relationships/officeDocument" Target="/ppt/presentation.xml" Id="R3cd9a5225ac54e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347bbce7554103"/>
  </p:sldMasterIdLst>
  <p:notesMasterIdLst>
    <p:notesMasterId xmlns:r="http://schemas.openxmlformats.org/officeDocument/2006/relationships" r:id="R7d1e66cdbba047ef"/>
  </p:notesMasterIdLst>
  <p:sldIdLst>
    <p:sldId xmlns:r="http://schemas.openxmlformats.org/officeDocument/2006/relationships" id="256" r:id="R9a132e7281264088"/>
    <p:sldId xmlns:r="http://schemas.openxmlformats.org/officeDocument/2006/relationships" id="257" r:id="Rf90bf19847cd4472"/>
    <p:sldId xmlns:r="http://schemas.openxmlformats.org/officeDocument/2006/relationships" id="258" r:id="Rfebb153eb3d349b1"/>
    <p:sldId xmlns:r="http://schemas.openxmlformats.org/officeDocument/2006/relationships" id="259" r:id="R99eecf54b9c6473f"/>
    <p:sldId xmlns:r="http://schemas.openxmlformats.org/officeDocument/2006/relationships" id="260" r:id="R1beb575ef0c74b8c"/>
    <p:sldId xmlns:r="http://schemas.openxmlformats.org/officeDocument/2006/relationships" id="261" r:id="R203f63acd85842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94a81f40d140e5" /><Relationship Type="http://schemas.openxmlformats.org/officeDocument/2006/relationships/slideMaster" Target="/ppt/slideMasters/slideMaster1.xml" Id="R51347bbce7554103" /><Relationship Type="http://schemas.openxmlformats.org/officeDocument/2006/relationships/notesMaster" Target="/ppt/notesMasters/notesMaster1.xml" Id="R7d1e66cdbba047ef" /><Relationship Type="http://schemas.openxmlformats.org/officeDocument/2006/relationships/presProps" Target="/ppt/presProps.xml" Id="R07e3d2c3629d493b" /><Relationship Type="http://schemas.openxmlformats.org/officeDocument/2006/relationships/tableStyles" Target="/ppt/tableStyles.xml" Id="R189422e828314bdb" /><Relationship Type="http://schemas.openxmlformats.org/officeDocument/2006/relationships/slide" Target="/ppt/slides/slide1.xml" Id="R9a132e7281264088" /><Relationship Type="http://schemas.openxmlformats.org/officeDocument/2006/relationships/slide" Target="/ppt/slides/slide2.xml" Id="Rf90bf19847cd4472" /><Relationship Type="http://schemas.openxmlformats.org/officeDocument/2006/relationships/slide" Target="/ppt/slides/slide3.xml" Id="Rfebb153eb3d349b1" /><Relationship Type="http://schemas.openxmlformats.org/officeDocument/2006/relationships/slide" Target="/ppt/slides/slide4.xml" Id="R99eecf54b9c6473f" /><Relationship Type="http://schemas.openxmlformats.org/officeDocument/2006/relationships/slide" Target="/ppt/slides/slide5.xml" Id="R1beb575ef0c74b8c" /><Relationship Type="http://schemas.openxmlformats.org/officeDocument/2006/relationships/slide" Target="/ppt/slides/slide6.xml" Id="R203f63acd85842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a9956a3f4b47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143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514350" dist="190500" dir="540000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76a22a6cad4133" /><Relationship Type="http://schemas.openxmlformats.org/officeDocument/2006/relationships/notesMaster" Target="/ppt/notesMasters/notesMaster1.xml" Id="Rc2b5fcbf602c4d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d5d2600ddc4fae" /><Relationship Type="http://schemas.openxmlformats.org/officeDocument/2006/relationships/notesMaster" Target="/ppt/notesMasters/notesMaster1.xml" Id="Rf015f0a38f1a44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9987e5e7814f36" /><Relationship Type="http://schemas.openxmlformats.org/officeDocument/2006/relationships/notesMaster" Target="/ppt/notesMasters/notesMaster1.xml" Id="Rb7618ca75c0e43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8612c836684d0e" /><Relationship Type="http://schemas.openxmlformats.org/officeDocument/2006/relationships/notesMaster" Target="/ppt/notesMasters/notesMaster1.xml" Id="Rad6967aff63c4c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7fad5f18c24119" /><Relationship Type="http://schemas.openxmlformats.org/officeDocument/2006/relationships/notesMaster" Target="/ppt/notesMasters/notesMaster1.xml" Id="R13a23fc8bcfd4e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63e842d5d94a16" /><Relationship Type="http://schemas.openxmlformats.org/officeDocument/2006/relationships/notesMaster" Target="/ppt/notesMasters/notesMaster1.xml" Id="R1895c7c4465847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70ae0ca0d49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11c28ecd3348ab" /><Relationship Type="http://schemas.openxmlformats.org/officeDocument/2006/relationships/slideLayout" Target="/ppt/slideLayouts/slideLayout1.xml" Id="Ra9066e68743041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066e68743041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143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514350" dist="190500" dir="540000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dc02cd42f471e" /><Relationship Type="http://schemas.openxmlformats.org/officeDocument/2006/relationships/image" Target="/ppt/media/image.png" Id="R822e8a6da5544e3e" /><Relationship Type="http://schemas.openxmlformats.org/officeDocument/2006/relationships/notesSlide" Target="/ppt/notesSlides/notesSlide1.xml" Id="Rb0769b992afc4d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f9e955887489d" /><Relationship Type="http://schemas.openxmlformats.org/officeDocument/2006/relationships/image" Target="/ppt/media/image2.png" Id="R2571c975347d41cd" /><Relationship Type="http://schemas.openxmlformats.org/officeDocument/2006/relationships/image" Target="/ppt/media/image.jpeg" Id="R5b39b9a84acb4f07" /><Relationship Type="http://schemas.openxmlformats.org/officeDocument/2006/relationships/notesSlide" Target="/ppt/notesSlides/notesSlide2.xml" Id="Rd9de447d587c4d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d531448b04e40" /><Relationship Type="http://schemas.openxmlformats.org/officeDocument/2006/relationships/notesSlide" Target="/ppt/notesSlides/notesSlide3.xml" Id="R597f0ea9bd9049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c17b466ed416e" /><Relationship Type="http://schemas.openxmlformats.org/officeDocument/2006/relationships/image" Target="/ppt/media/image3.png" Id="R7bb7664b63484a76" /><Relationship Type="http://schemas.openxmlformats.org/officeDocument/2006/relationships/notesSlide" Target="/ppt/notesSlides/notesSlide4.xml" Id="R2c4ce19faf5c4c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b3f80fc7e43a5" /><Relationship Type="http://schemas.openxmlformats.org/officeDocument/2006/relationships/notesSlide" Target="/ppt/notesSlides/notesSlide5.xml" Id="R6444b4d239244d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766ae631442cc" /><Relationship Type="http://schemas.openxmlformats.org/officeDocument/2006/relationships/chart" Target="/ppt/slides/charts/chart1.xml" Id="R47caea24fc704276" /><Relationship Type="http://schemas.openxmlformats.org/officeDocument/2006/relationships/notesSlide" Target="/ppt/notesSlides/notesSlide6.xml" Id="Rc1640cbe0bfd43af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Baseline SOP</c:v>
          </c:tx>
          <c:spPr>
            <a:solidFill xmlns:a="http://schemas.openxmlformats.org/drawingml/2006/main">
              <a:srgbClr val="64748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Containment speed</c:v>
              </c:pt>
              <c:pt idx="1">
                <c:v>Gridlock risk</c:v>
              </c:pt>
              <c:pt idx="2">
                <c:v>Bias exposure</c:v>
              </c:pt>
            </c:strLit>
          </c:cat>
          <c:val>
            <c:numLit>
              <c:formatCode>General</c:formatCode>
              <c:ptCount val="3"/>
              <c:pt idx="0">
                <c:v>45</c:v>
              </c:pt>
              <c:pt idx="1">
                <c:v>82</c:v>
              </c:pt>
              <c:pt idx="2">
                <c:v>68</c:v>
              </c:pt>
            </c:numLit>
          </c:val>
        </c:ser>
        <c:ser>
          <c:idx val="1"/>
          <c:order val="1"/>
          <c:tx>
            <c:v>PRAVAH</c:v>
          </c:tx>
          <c:spPr>
            <a:solidFill xmlns:a="http://schemas.openxmlformats.org/drawingml/2006/main">
              <a:srgbClr val="22D3E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Containment speed</c:v>
              </c:pt>
              <c:pt idx="1">
                <c:v>Gridlock risk</c:v>
              </c:pt>
              <c:pt idx="2">
                <c:v>Bias exposure</c:v>
              </c:pt>
            </c:strLit>
          </c:cat>
          <c:val>
            <c:numLit>
              <c:formatCode>General</c:formatCode>
              <c:ptCount val="3"/>
              <c:pt idx="0">
                <c:v>72</c:v>
              </c:pt>
              <c:pt idx="1">
                <c:v>28</c:v>
              </c:pt>
              <c:pt idx="2">
                <c:v>18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2304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7DA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B122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B8C7D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B1220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e8a6da5544e3e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8AE3B-27C0-4675-A797-11C0226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8BD80-1702-447D-A5FC-136AADDB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838200"/>
            <a:ext cx="5715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1C2B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9CF6B-BC39-4FB4-869F-392FBCAE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0668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A761A-F69C-443D-90CF-1DF36C5A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66850"/>
            <a:ext cx="5334000" cy="1763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38917-9E0C-4C57-B88D-F37F987B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5334000" cy="1905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1F3F5-C0BC-4713-889F-6DB5C600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5334000" cy="295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560A8-D31E-461E-8ECF-132BC662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67000"/>
            <a:ext cx="5334000" cy="-15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B556A-2201-425C-9D24-E987440E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5334000" cy="-2009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D0B55-9A0D-41BC-A5A1-993392AD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67100"/>
            <a:ext cx="5334000" cy="-58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5F95F-36C8-4E29-982F-FC652255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334000" cy="137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74A54-23A8-4231-8FB8-24A9BAC9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5334000" cy="20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14339-11ED-40FD-9E1D-11150496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5334000" cy="863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0852E-8294-4F1A-A2F9-67D8A89A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67300"/>
            <a:ext cx="5334000" cy="-11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0A11B-B9E6-481E-8049-8E217F9B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67350"/>
            <a:ext cx="5334000" cy="-2095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20E62-E643-4AF2-B391-0D7E7AAB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990600"/>
            <a:ext cx="266700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F4EB6-D14A-4F0A-A981-C3B1E8E5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990600"/>
            <a:ext cx="144099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2C853-7856-422E-9EF2-1EF7D7BE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90600"/>
            <a:ext cx="-110986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593A7-C271-4DB7-B61A-02AE0164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-264031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7E134-56B6-4EAD-A20B-DD6CC894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990600"/>
            <a:ext cx="-174327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FB71C-E0B8-48A8-82D0-AE998C18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990600"/>
            <a:ext cx="75653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CCD49-86D5-40C4-9CBD-1B325EB3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990600"/>
            <a:ext cx="256077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82984-9AFE-457D-B8E4-57D69E54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990600"/>
            <a:ext cx="201066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9D2B29-4A2F-418F-850A-E1B6AFB6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990600"/>
            <a:ext cx="-38805" cy="421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9C8DFD-9BC7-48AB-A227-7CCE7469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1562100" cy="1562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F4444">
                <a:alpha val="26667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CC487-4A45-4FBC-A552-F6C314CF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76350"/>
            <a:ext cx="2781300" cy="2781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4444">
                <a:alpha val="19608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195096-6EA5-42B8-B472-2293611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"/>
            <a:ext cx="4305300" cy="4305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4444">
                <a:alpha val="12549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DC5DB9-9B99-479E-B00E-965809E4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-476250"/>
            <a:ext cx="6286500" cy="628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4444">
                <a:alpha val="7843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F36E14-18DA-429A-AE61-E3A24956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33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9050">
            <a:solidFill>
              <a:srgbClr val="FECA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943375-AC36-4C35-AE2A-F5913D46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2381250" cy="-1714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4444">
                <a:alpha val="66667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799768-6645-4581-932B-D9D2F6EE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2628900" cy="-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7185">
                <a:alpha val="66667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4B0772-7498-437E-B5E0-76CE83D4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2876550" cy="-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4444">
                <a:alpha val="66667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AE74EE-283A-4983-8C3C-A92D7620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3124200" cy="-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7185">
                <a:alpha val="66667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19A222-EE96-442D-9256-D6857E29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3371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4444">
                <a:alpha val="66667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DE09C9-6472-4335-AF05-B82A29C6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3619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7185">
                <a:alpha val="66667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0ACFBC-1AC3-4447-802F-B7F2A9CE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386715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F4444">
                <a:alpha val="66667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9996A2-23B0-4CD8-AE81-B5A78B51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4114800" cy="1752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B7185">
                <a:alpha val="66667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41E687-0AB2-4CA9-BE22-0194174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THE CORE PROBLEM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46C915-DAB2-43E8-84BC-C9E62046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718C"/>
                </a:solidFill>
              </a:defRPr>
            </a:pPr>
            <a:r>
              <a:rPr sz="975" b="1">
                <a:solidFill>
                  <a:srgbClr val="5D718C"/>
                </a:solidFill>
              </a:rPr>
              <a:t>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20FB58-C04C-4D7B-9FB0-51804D80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796E23-29CD-4A17-97DD-A9650DFA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457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48F"/>
                </a:solidFill>
              </a:defRPr>
            </a:pPr>
            <a:r>
              <a:rPr sz="825" b="0">
                <a:solidFill>
                  <a:srgbClr val="61748F"/>
                </a:solidFill>
              </a:rPr>
              <a:t>PROJECT PRAVAH / Deterministic urban response simulation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0A4766-9463-4189-9321-88312DD5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EF7FF"/>
                </a:solidFill>
              </a:defRPr>
            </a:pPr>
            <a:r>
              <a:rPr sz="4200" b="1">
                <a:solidFill>
                  <a:srgbClr val="EEF7FF"/>
                </a:solidFill>
              </a:rPr>
              <a:t>The Inflow Paradox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4C742C-1001-4A49-943E-D2F0382D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C8DB"/>
                </a:solidFill>
              </a:defRPr>
            </a:pPr>
            <a:r>
              <a:rPr sz="1575" b="0">
                <a:solidFill>
                  <a:srgbClr val="B9C8DB"/>
                </a:solidFill>
              </a:rPr>
              <a:t>You cannot clear a crash if traffic keeps entering the conflict link at urban approach speeds.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5B63EB-029F-492F-842B-C7FB91B9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219450"/>
            <a:ext cx="39814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9525">
            <a:solidFill>
              <a:srgbClr val="EF4444">
                <a:alpha val="46667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92C897-749C-40D3-B87F-BBF7F81E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444"/>
                </a:solidFill>
              </a:defRPr>
            </a:pPr>
            <a:r>
              <a:rPr sz="975" b="1">
                <a:solidFill>
                  <a:srgbClr val="EF4444"/>
                </a:solidFill>
              </a:rPr>
              <a:t>Failure 01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52F829-5354-46F7-93FA-BDD5D287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7FF"/>
                </a:solidFill>
              </a:defRPr>
            </a:pPr>
            <a:r>
              <a:rPr sz="1500" b="1">
                <a:solidFill>
                  <a:srgbClr val="EEF7FF"/>
                </a:solidFill>
              </a:rPr>
              <a:t>Inflow keeps feeding the shockwave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CDD31B-6BC4-4FD1-A885-B9E1E3D6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A0B9"/>
                </a:solidFill>
              </a:defRPr>
            </a:pPr>
            <a:r>
              <a:rPr sz="975" b="0">
                <a:solidFill>
                  <a:srgbClr val="8AA0B9"/>
                </a:solidFill>
              </a:rPr>
              <a:t>Manual response clears the obstacle while the queue continues to grow upstream.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713679-43D2-40DF-8B0B-9E4702A3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610100"/>
            <a:ext cx="39814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827">
              <a:alpha val="80000"/>
            </a:srgbClr>
          </a:solidFill>
          <a:ln xmlns:a="http://schemas.openxmlformats.org/drawingml/2006/main" w="9525">
            <a:solidFill>
              <a:srgbClr val="F59E0B">
                <a:alpha val="46667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0A1903-1D93-42F1-AFC7-B053DC20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Failure 02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C44E86-B6D6-4421-A8D2-70D7113B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7FF"/>
                </a:solidFill>
              </a:defRPr>
            </a:pPr>
            <a:r>
              <a:rPr sz="1500" b="1">
                <a:solidFill>
                  <a:srgbClr val="EEF7FF"/>
                </a:solidFill>
              </a:rPr>
              <a:t>Over-deployment burns capacity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391B63-6A70-4A90-A0B4-0703984F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A0B9"/>
                </a:solidFill>
              </a:defRPr>
            </a:pPr>
            <a:r>
              <a:rPr sz="975" b="0">
                <a:solidFill>
                  <a:srgbClr val="8AA0B9"/>
                </a:solidFill>
              </a:rPr>
              <a:t>Heavy logistics can chase minor incidents while major choke points fail.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69E7BF-1BDB-4FEF-9405-F968902B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575310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>
              <a:alpha val="13333"/>
            </a:srgbClr>
          </a:solidFill>
          <a:ln xmlns:a="http://schemas.openxmlformats.org/drawingml/2006/main" w="9525">
            <a:solidFill>
              <a:srgbClr val="EF4444">
                <a:alpha val="46667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D003FC-CC9F-414F-9D7F-E064A64A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197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4444"/>
                </a:solidFill>
              </a:defRPr>
            </a:pPr>
            <a:r>
              <a:rPr sz="900" b="1">
                <a:solidFill>
                  <a:srgbClr val="EF4444"/>
                </a:solidFill>
              </a:rPr>
              <a:t>HIGH-STAKES LOCAL CASCADE</a:t>
            </a:r>
          </a:p>
        </p:txBody>
      </p:sp>
    </p:spTree>
    <p:extLst>
      <p:ext uri="{BB962C8B-B14F-4D97-AF65-F5344CB8AC3E}">
        <p14:creationId xmlns:p14="http://schemas.microsoft.com/office/powerpoint/2010/main" val="255931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1c975347d41cd"/>
          <a:srcRect xmlns:a="http://schemas.openxmlformats.org/drawingml/2006/main" l="0" t="28365" r="0" b="28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686300"/>
            <a:ext cx="121920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6F9BA-5CB3-45D3-AB76-7A1F3ED8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98DE9-C1AC-4B00-951E-478D8CA1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THE PROPOSED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44761-239B-4B5B-BE0B-4041A50D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718C"/>
                </a:solidFill>
              </a:defRPr>
            </a:pPr>
            <a:r>
              <a:rPr sz="975" b="1">
                <a:solidFill>
                  <a:srgbClr val="5D718C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4B147-5117-4BE9-BAE9-894A44FB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573E3-57B0-484B-A914-BFE732A2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457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48F"/>
                </a:solidFill>
              </a:defRPr>
            </a:pPr>
            <a:r>
              <a:rPr sz="825" b="0">
                <a:solidFill>
                  <a:srgbClr val="61748F"/>
                </a:solidFill>
              </a:rPr>
              <a:t>PROJECT PRAVAH / Deterministic urban response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B4850-BB38-4A5E-A8B4-0488E328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EF7FF"/>
                </a:solidFill>
              </a:defRPr>
            </a:pPr>
            <a:r>
              <a:rPr sz="4200" b="1">
                <a:solidFill>
                  <a:srgbClr val="EEF7FF"/>
                </a:solidFill>
              </a:rPr>
              <a:t>Project PRAVAH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DC19F-21A9-42DA-8637-15546EDD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4362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7DA"/>
                </a:solidFill>
              </a:defRPr>
            </a:pPr>
            <a:r>
              <a:rPr sz="1500" b="0">
                <a:solidFill>
                  <a:srgbClr val="B8C7DA"/>
                </a:solidFill>
              </a:rPr>
              <a:t>A Hybrid Network &amp; Heuristic Decision Support System for tactical containment, resource math, and operator-reviewed mitigation.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5DAD3-6C0E-4FF1-833B-7E3A822A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60985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22D3EE">
                <a:alpha val="46667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D29F7-CF85-4E48-83CC-E05B333C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D3EE"/>
                </a:solidFill>
              </a:defRPr>
            </a:pPr>
            <a:r>
              <a:rPr sz="900" b="1">
                <a:solidFill>
                  <a:srgbClr val="22D3EE"/>
                </a:solidFill>
              </a:rPr>
              <a:t>SIMULATION-ONLY / HUMAN APPROVAL REQUIRED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9b9a84acb4f07"/>
          <a:srcRect xmlns:a="http://schemas.openxmlformats.org/drawingml/2006/main" l="11760" t="0" r="117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781050"/>
            <a:ext cx="5905500" cy="4343400"/>
          </a:xfrm>
          <a:prstGeom xmlns:a="http://schemas.openxmlformats.org/drawingml/2006/main" prst="roundRect">
            <a:avLst>
              <a:gd name="adj" fmla="val 482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8F045-BB29-48CA-B99E-AF72954A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1085850"/>
            <a:ext cx="6400800" cy="43434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2D3EE">
              <a:alpha val="6667"/>
            </a:srgbClr>
          </a:solidFill>
          <a:ln xmlns:a="http://schemas.openxmlformats.org/drawingml/2006/main" w="9525">
            <a:solidFill>
              <a:srgbClr val="22D3EE">
                <a:alpha val="33333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C27CB-4B32-432F-96A6-F18DF89B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333750"/>
            <a:ext cx="3733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1524"/>
          </a:solidFill>
          <a:ln xmlns:a="http://schemas.openxmlformats.org/drawingml/2006/main" w="9525">
            <a:solidFill>
              <a:srgbClr val="2232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DB91E-DB38-402A-846B-B173BDE1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Physics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E9E85-649F-47ED-9860-434631C6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575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A0B9"/>
                </a:solidFill>
              </a:defRPr>
            </a:pPr>
            <a:r>
              <a:rPr sz="900" b="0">
                <a:solidFill>
                  <a:srgbClr val="8AA0B9"/>
                </a:solidFill>
              </a:rPr>
              <a:t>Bounded ghost queues, residual capacity, shockwave velocity.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51E3F-C2E3-46E6-8EA9-A1AAD1B5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000500"/>
            <a:ext cx="3733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1524"/>
          </a:solidFill>
          <a:ln xmlns:a="http://schemas.openxmlformats.org/drawingml/2006/main" w="9525">
            <a:solidFill>
              <a:srgbClr val="2232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3A176-0AC0-4A15-9E04-D1FE00B2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Behavior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964EA-4ADE-428B-B1DD-6475FA11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2432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A0B9"/>
                </a:solidFill>
              </a:defRPr>
            </a:pPr>
            <a:r>
              <a:rPr sz="900" b="0">
                <a:solidFill>
                  <a:srgbClr val="8AA0B9"/>
                </a:solidFill>
              </a:rPr>
              <a:t>Zonal matrix: dense grid, tech park, arterial response.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DEA2F-219C-418F-9DCA-3090C95B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667250"/>
            <a:ext cx="3733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1524"/>
          </a:solidFill>
          <a:ln xmlns:a="http://schemas.openxmlformats.org/drawingml/2006/main" w="9525">
            <a:solidFill>
              <a:srgbClr val="223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0CCAA-FAFE-41DE-B722-E7C7B92C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Logistics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0111B-916B-4A2D-842E-A2001410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910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A0B9"/>
                </a:solidFill>
              </a:defRPr>
            </a:pPr>
            <a:r>
              <a:rPr sz="900" b="0">
                <a:solidFill>
                  <a:srgbClr val="8AA0B9"/>
                </a:solidFill>
              </a:rPr>
              <a:t>Officers, barricades, upstream node, route override.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F62AC-FE01-4F01-A6D5-69D8C683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81650"/>
            <a:ext cx="560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EF7FF"/>
                </a:solidFill>
              </a:defRPr>
            </a:pPr>
            <a:r>
              <a:rPr sz="1800" b="1">
                <a:solidFill>
                  <a:srgbClr val="EEF7FF"/>
                </a:solidFill>
              </a:rPr>
              <a:t>We don't just put dots on a map. We calculate physics, behavior, and logistics to restore flow.</a:t>
            </a:r>
          </a:p>
        </p:txBody>
      </p:sp>
    </p:spTree>
    <p:extLst>
      <p:ext uri="{BB962C8B-B14F-4D97-AF65-F5344CB8AC3E}">
        <p14:creationId xmlns:p14="http://schemas.microsoft.com/office/powerpoint/2010/main" val="368421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23080-BB13-40F2-9E85-D11808FA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ED9FA-4A14-4155-A6F9-BA7ED642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THE MASTER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393B2-0EA3-4878-BC75-15298309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718C"/>
                </a:solidFill>
              </a:defRPr>
            </a:pPr>
            <a:r>
              <a:rPr sz="975" b="1">
                <a:solidFill>
                  <a:srgbClr val="5D718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10AB8-014E-47F7-8914-8F3179DB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18615-BF5E-46B6-8689-1F140F95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457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48F"/>
                </a:solidFill>
              </a:defRPr>
            </a:pPr>
            <a:r>
              <a:rPr sz="825" b="0">
                <a:solidFill>
                  <a:srgbClr val="61748F"/>
                </a:solidFill>
              </a:rPr>
              <a:t>PROJECT PRAVAH / Deterministic urban response simulation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651D2-3C11-49AE-AF0E-52D83093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7FF"/>
                </a:solidFill>
              </a:defRPr>
            </a:pPr>
            <a:r>
              <a:rPr sz="3150" b="1">
                <a:solidFill>
                  <a:srgbClr val="EEF7FF"/>
                </a:solidFill>
              </a:rPr>
              <a:t>From incident signal to containment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6BB6D-069C-46C3-B396-4C8174FB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A0B9"/>
                </a:solidFill>
              </a:defRPr>
            </a:pPr>
            <a:r>
              <a:rPr sz="1200" b="0">
                <a:solidFill>
                  <a:srgbClr val="8AA0B9"/>
                </a:solidFill>
              </a:rPr>
              <a:t>The core engine stays deterministic and auditable; Phase 2 adds live telemetry and automated handshakes only after governance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B8A81-9946-4B0B-BAB9-C20A9798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2819400"/>
            <a:ext cx="17145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C1423"/>
          </a:solidFill>
          <a:ln xmlns:a="http://schemas.openxmlformats.org/drawingml/2006/main" w="9525">
            <a:solidFill>
              <a:srgbClr val="28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34E9A-4B08-41B1-A455-52C61B97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B3010-4547-4CA1-BFE4-894BEF67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7FF"/>
                </a:solidFill>
              </a:defRPr>
            </a:pPr>
            <a:r>
              <a:rPr sz="1350" b="1">
                <a:solidFill>
                  <a:srgbClr val="EEF7FF"/>
                </a:solidFill>
              </a:rPr>
              <a:t>Ingestion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F12A0-C6A0-47E0-AAAD-DB0C7592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A0B9"/>
                </a:solidFill>
              </a:defRPr>
            </a:pPr>
            <a:r>
              <a:rPr sz="900" b="0">
                <a:solidFill>
                  <a:srgbClr val="8AA0B9"/>
                </a:solidFill>
              </a:rPr>
              <a:t>Zonal Behavioral Matrix mapping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83887-BFA9-43B3-9F6E-C52025BD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2819400"/>
            <a:ext cx="17145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C1423"/>
          </a:solidFill>
          <a:ln xmlns:a="http://schemas.openxmlformats.org/drawingml/2006/main" w="9525">
            <a:solidFill>
              <a:srgbClr val="28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29221-70C9-4BD2-9E5B-90649CD2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24B12-355C-4B16-BE8C-EEED743E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7FF"/>
                </a:solidFill>
              </a:defRPr>
            </a:pPr>
            <a:r>
              <a:rPr sz="1350" b="1">
                <a:solidFill>
                  <a:srgbClr val="EEF7FF"/>
                </a:solidFill>
              </a:rPr>
              <a:t>Physics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20B45-134E-4FF9-8233-1EDA58D0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04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A0B9"/>
                </a:solidFill>
              </a:defRPr>
            </a:pPr>
            <a:r>
              <a:rPr sz="900" b="0">
                <a:solidFill>
                  <a:srgbClr val="8AA0B9"/>
                </a:solidFill>
              </a:rPr>
              <a:t>Bounded Ghost Queue + resource math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3D740-41E3-4BB3-933A-46360E35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2819400"/>
            <a:ext cx="17145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C1423"/>
          </a:solidFill>
          <a:ln xmlns:a="http://schemas.openxmlformats.org/drawingml/2006/main" w="9525">
            <a:solidFill>
              <a:srgbClr val="28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A2E68-31AD-4148-B99D-EAB4773D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FF41F-8AD3-43EE-B836-3D8142E9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7FF"/>
                </a:solidFill>
              </a:defRPr>
            </a:pPr>
            <a:r>
              <a:rPr sz="1350" b="1">
                <a:solidFill>
                  <a:srgbClr val="EEF7FF"/>
                </a:solidFill>
              </a:rPr>
              <a:t>Arbitration &amp; Routing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1E9D0-FF3B-4D4F-B921-52CB0FCC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004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A0B9"/>
                </a:solidFill>
              </a:defRPr>
            </a:pPr>
            <a:r>
              <a:rPr sz="900" b="0">
                <a:solidFill>
                  <a:srgbClr val="8AA0B9"/>
                </a:solidFill>
              </a:rPr>
              <a:t>Priority Matrix + OSRM drive-time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44983-8BC9-49C7-84D6-4ACB7197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2819400"/>
            <a:ext cx="17145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C1423"/>
          </a:solidFill>
          <a:ln xmlns:a="http://schemas.openxmlformats.org/drawingml/2006/main" w="9525">
            <a:solidFill>
              <a:srgbClr val="28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C4C46-8AFA-4596-AF2F-EB622673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F4E87-6648-4E60-B904-ED3AF7F3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7FF"/>
                </a:solidFill>
              </a:defRPr>
            </a:pPr>
            <a:r>
              <a:rPr sz="1350" b="1">
                <a:solidFill>
                  <a:srgbClr val="EEF7FF"/>
                </a:solidFill>
              </a:rPr>
              <a:t>Mitigation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6AA46-1F2E-49B0-B884-93BA717F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004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A0B9"/>
                </a:solidFill>
              </a:defRPr>
            </a:pPr>
            <a:r>
              <a:rPr sz="900" b="0">
                <a:solidFill>
                  <a:srgbClr val="8AA0B9"/>
                </a:solidFill>
              </a:rPr>
              <a:t>ATCS upstream gating + UI dispatch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F4048-B9E2-4C5E-BCCE-1FB3C590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2819400"/>
            <a:ext cx="17145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C1423"/>
          </a:solidFill>
          <a:ln xmlns:a="http://schemas.openxmlformats.org/drawingml/2006/main" w="9525">
            <a:solidFill>
              <a:srgbClr val="2840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783C2-73E5-4EBE-8595-D8893D89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C4A9C-D7E8-47EB-85C7-1AE3AD49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194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7FF"/>
                </a:solidFill>
              </a:defRPr>
            </a:pPr>
            <a:r>
              <a:rPr sz="1350" b="1">
                <a:solidFill>
                  <a:srgbClr val="EEF7FF"/>
                </a:solidFill>
              </a:rPr>
              <a:t>Learning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9AAAB5-0136-4D65-A09F-173266A1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140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A0B9"/>
                </a:solidFill>
              </a:defRPr>
            </a:pPr>
            <a:r>
              <a:rPr sz="900" b="0">
                <a:solidFill>
                  <a:srgbClr val="8AA0B9"/>
                </a:solidFill>
              </a:rPr>
              <a:t>Objective Delta-T feedback loop</a:t>
            </a:r>
          </a:p>
        </p:txBody>
      </p:sp>
      <p:cxnSp>
        <p:nvCxnSpPr>
          <p:cNvPr id="8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209800" y="3476625"/>
            <a:ext cx="400050" cy="0"/>
          </a:xfrm>
          <a:prstGeom xmlns:a="http://schemas.openxmlformats.org/drawingml/2006/main" prst="curvedConnector2">
            <a:avLst/>
          </a:prstGeom>
          <a:ln xmlns:a="http://schemas.openxmlformats.org/drawingml/2006/main" w="28575">
            <a:solidFill>
              <a:srgbClr val="22D3EE"/>
            </a:solidFill>
            <a:prstDash val="solid"/>
            <a:headEnd type="arrow" w="sm" len="sm"/>
          </a:ln>
        </p:spPr>
      </p:cxnSp>
      <p:cxnSp>
        <p:nvCxnSpPr>
          <p:cNvPr id="82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324350" y="3476625"/>
            <a:ext cx="400050" cy="0"/>
          </a:xfrm>
          <a:prstGeom xmlns:a="http://schemas.openxmlformats.org/drawingml/2006/main" prst="curvedConnector2">
            <a:avLst/>
          </a:prstGeom>
          <a:ln xmlns:a="http://schemas.openxmlformats.org/drawingml/2006/main" w="28575">
            <a:solidFill>
              <a:srgbClr val="22D3EE"/>
            </a:solidFill>
            <a:prstDash val="solid"/>
            <a:headEnd type="arrow" w="sm" len="sm"/>
          </a:ln>
        </p:spPr>
      </p:cxnSp>
      <p:cxnSp>
        <p:nvCxnSpPr>
          <p:cNvPr id="83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438900" y="3476625"/>
            <a:ext cx="400050" cy="0"/>
          </a:xfrm>
          <a:prstGeom xmlns:a="http://schemas.openxmlformats.org/drawingml/2006/main" prst="curvedConnector2">
            <a:avLst/>
          </a:prstGeom>
          <a:ln xmlns:a="http://schemas.openxmlformats.org/drawingml/2006/main" w="28575">
            <a:solidFill>
              <a:srgbClr val="22D3EE"/>
            </a:solidFill>
            <a:prstDash val="solid"/>
            <a:headEnd type="arrow" w="sm" len="sm"/>
          </a:ln>
        </p:spPr>
      </p:cxnSp>
      <p:cxnSp>
        <p:nvCxnSpPr>
          <p:cNvPr id="84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553450" y="3476625"/>
            <a:ext cx="400050" cy="0"/>
          </a:xfrm>
          <a:prstGeom xmlns:a="http://schemas.openxmlformats.org/drawingml/2006/main" prst="curvedConnector2">
            <a:avLst/>
          </a:prstGeom>
          <a:ln xmlns:a="http://schemas.openxmlformats.org/drawingml/2006/main" w="28575">
            <a:solidFill>
              <a:srgbClr val="22D3EE"/>
            </a:solidFill>
            <a:prstDash val="solid"/>
            <a:headEnd type="arrow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487E5B-CB02-4EE5-B870-8AAFCBB3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861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2D3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3DC793-EE6E-4644-9530-EC4A9EAF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290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4BDC62-41C8-4E59-8863-9E6EC475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43300"/>
            <a:ext cx="95250" cy="-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CA5B37-B781-49CE-BCE5-F411D0E1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2D3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C2E36F-687F-4821-8A6C-3AE3D243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2C9FC6-045A-482B-90C3-8CF669CF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43300"/>
            <a:ext cx="95250" cy="-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5EE8C9-54A0-44B2-A254-B9E8D679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2D3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88C39D-D718-404C-AC84-590E3BF4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DD2270-76BF-4043-9501-73A43E01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95250" cy="-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C9039D-0DDD-4FC1-9DD1-3FC0EA95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861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2D3E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CAEA21-7325-4A13-8305-584A6C65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EB60BC-2AF6-4F5E-BD0A-5FE060A4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95250" cy="-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A596E5-4416-4BF4-A1A8-50C7F61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5010150"/>
            <a:ext cx="73342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BEAFE">
              <a:alpha val="9412"/>
            </a:srgbClr>
          </a:solidFill>
          <a:ln xmlns:a="http://schemas.openxmlformats.org/drawingml/2006/main" w="9525">
            <a:solidFill>
              <a:srgbClr val="93C5FD">
                <a:alpha val="33333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7E37DD-7947-4634-9203-7CE0B3A2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BEAFE"/>
                </a:solidFill>
              </a:defRPr>
            </a:pPr>
            <a:r>
              <a:rPr sz="1500" b="1">
                <a:solidFill>
                  <a:srgbClr val="DBEAFE"/>
                </a:solidFill>
              </a:rPr>
              <a:t>Phase 2 Roadmap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ADA0B7-564B-417A-B3BA-1EAA492A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5562600"/>
            <a:ext cx="27241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20"/>
          </a:solidFill>
          <a:ln xmlns:a="http://schemas.openxmlformats.org/drawingml/2006/main" w="9525">
            <a:solidFill>
              <a:srgbClr val="38BDF8">
                <a:alpha val="33333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A7A192-75CD-4A6E-8F38-96EAA5D0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86425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DBFE"/>
                </a:solidFill>
              </a:defRPr>
            </a:pPr>
            <a:r>
              <a:rPr sz="900" b="0">
                <a:solidFill>
                  <a:srgbClr val="BFDBFE"/>
                </a:solidFill>
              </a:rPr>
              <a:t>Edge-node CV + live CCTV telemetry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E9DB44-187D-40D5-86B6-53EEEDE4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5562600"/>
            <a:ext cx="30289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20"/>
          </a:solidFill>
          <a:ln xmlns:a="http://schemas.openxmlformats.org/drawingml/2006/main" w="9525">
            <a:solidFill>
              <a:srgbClr val="38BDF8">
                <a:alpha val="33333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68EDC3-AE00-46AB-B2C1-1A26250B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86425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FDBFE"/>
                </a:solidFill>
              </a:defRPr>
            </a:pPr>
            <a:r>
              <a:rPr sz="900" b="0">
                <a:solidFill>
                  <a:srgbClr val="BFDBFE"/>
                </a:solidFill>
              </a:rPr>
              <a:t>Automated ATCS handshake / ONDC API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306EB6-2AC1-411A-B67E-11F928C6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180975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D3FC">
                <a:alpha val="66667"/>
              </a:srgbClr>
            </a:solidFill>
            <a:prstDash val="dash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298931-51E2-4899-A36C-29DE59EB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52900"/>
            <a:ext cx="26670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D3FC">
                <a:alpha val="66667"/>
              </a:srgbClr>
            </a:solidFill>
            <a:prstDash val="dash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9E3632-C724-4325-9999-FF40A0A8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990600"/>
            <a:ext cx="1314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>
              <a:alpha val="13333"/>
            </a:srgbClr>
          </a:solidFill>
          <a:ln xmlns:a="http://schemas.openxmlformats.org/drawingml/2006/main" w="9525">
            <a:solidFill>
              <a:srgbClr val="22C55E">
                <a:alpha val="46667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180801-CCED-4B6B-8FA6-EE3E0493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57275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C55E"/>
                </a:solidFill>
              </a:defRPr>
            </a:pPr>
            <a:r>
              <a:rPr sz="900" b="1">
                <a:solidFill>
                  <a:srgbClr val="22C55E"/>
                </a:solidFill>
              </a:rPr>
              <a:t>MONEY SLIDE</a:t>
            </a:r>
          </a:p>
        </p:txBody>
      </p:sp>
    </p:spTree>
    <p:extLst>
      <p:ext uri="{BB962C8B-B14F-4D97-AF65-F5344CB8AC3E}">
        <p14:creationId xmlns:p14="http://schemas.microsoft.com/office/powerpoint/2010/main" val="1285592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D0960A-3E81-4CA1-890F-294A8B28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WORKING EXPLANATION / PART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39D80-6FE4-4DD7-AF6C-6E1E88BC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718C"/>
                </a:solidFill>
              </a:defRPr>
            </a:pPr>
            <a:r>
              <a:rPr sz="975" b="1">
                <a:solidFill>
                  <a:srgbClr val="5D718C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3092B-6CEF-4C68-9C28-8A93D82E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C4BEA-06F8-4802-9D9F-849CC428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457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48F"/>
                </a:solidFill>
              </a:defRPr>
            </a:pPr>
            <a:r>
              <a:rPr sz="825" b="0">
                <a:solidFill>
                  <a:srgbClr val="61748F"/>
                </a:solidFill>
              </a:rPr>
              <a:t>PROJECT PRAVAH / Deterministic urban response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9CCF2-7AD1-4F2B-BF6C-386022CE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7FF"/>
                </a:solidFill>
              </a:defRPr>
            </a:pPr>
            <a:r>
              <a:rPr sz="2850" b="1">
                <a:solidFill>
                  <a:srgbClr val="EEF7FF"/>
                </a:solidFill>
              </a:rPr>
              <a:t>Physics &amp; routing: bounded, topological, reproducible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D7E05-17C4-473C-A61A-21F04A74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504950"/>
            <a:ext cx="4953000" cy="4248150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737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03D48-CCFA-4126-890F-3828AF05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Zonal profile + resource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600B9-B606-4619-8914-7B4DCE41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2862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"road": { "class": "ARTERIAL", "lanes": 6,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  "zonal_behavior": "DENSE_GRID",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  "capacity_per_lane_vph": 1750 },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"kinematic_state": {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  "q_ghost_pcu": 3600,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  "q_excess_pcu": 420,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  "shockwave_speed_kmh": -8.7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},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"deployment": {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  "officers_required": 8,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  "barricades_required": 14,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  "requires_human_approval": true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  }</a:t>
            </a:r>
          </a:p>
          <a:p xmlns:a="http://schemas.openxmlformats.org/drawingml/2006/main">
            <a:pPr algn="l">
              <a:defRPr sz="1275" b="0">
                <a:solidFill>
                  <a:srgbClr val="D9F99D"/>
                </a:solidFill>
              </a:defRPr>
            </a:pPr>
            <a:r>
              <a:rPr sz="1275" b="0">
                <a:solidFill>
                  <a:srgbClr val="D9F99D"/>
                </a:solidFill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8B2CE-B0B1-4558-8CD9-D476CB02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CD34D"/>
                </a:solidFill>
              </a:defRPr>
            </a:pPr>
            <a:r>
              <a:rPr sz="975" b="0">
                <a:solidFill>
                  <a:srgbClr val="FCD34D"/>
                </a:solidFill>
              </a:rPr>
              <a:t>Implementation note: MVP uses a 600 PCU/lane simulation storage cap; IRC:64 calibration is a governance-calibration step, not claimed live sensor truth.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7664b63484a76"/>
          <a:srcRect xmlns:a="http://schemas.openxmlformats.org/drawingml/2006/main" l="4044" t="0" r="40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562100"/>
            <a:ext cx="4762500" cy="3238500"/>
          </a:xfrm>
          <a:prstGeom xmlns:a="http://schemas.openxmlformats.org/drawingml/2006/main" prst="roundRect">
            <a:avLst>
              <a:gd name="adj" fmla="val 529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04B74-446F-4127-B114-FE8A4597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2476500" cy="-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44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0156F-3568-4A8A-B205-0DC8E7A8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257175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F44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4D177-7138-47E8-9633-F55A36F5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4444"/>
                </a:solidFill>
              </a:defRPr>
            </a:pPr>
            <a:r>
              <a:rPr sz="1200" b="1">
                <a:solidFill>
                  <a:srgbClr val="EF4444"/>
                </a:solidFill>
              </a:rPr>
              <a:t>Haversine shortcut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65A73-709F-4CC6-BE89-5E45DD5B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71950"/>
            <a:ext cx="1095375" cy="-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2D3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4A1A7-E1EE-4E5A-A1D5-A12BE511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8382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2D3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18EF4-4640-439C-970E-15196405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38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</a:defRPr>
            </a:pPr>
            <a:r>
              <a:rPr sz="1200" b="1">
                <a:solidFill>
                  <a:srgbClr val="22D3EE"/>
                </a:solidFill>
              </a:rPr>
              <a:t>OSRM actual drive-time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BCE95-849A-41AE-9019-3F8C9C59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219700"/>
            <a:ext cx="21336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C1422"/>
          </a:solidFill>
          <a:ln xmlns:a="http://schemas.openxmlformats.org/drawingml/2006/main" w="9525">
            <a:solidFill>
              <a:srgbClr val="2232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0F03A-E924-48EC-B90D-785CF437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721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A0B9"/>
                </a:solidFill>
              </a:defRPr>
            </a:pPr>
            <a:r>
              <a:rPr sz="1050" b="0">
                <a:solidFill>
                  <a:srgbClr val="8AA0B9"/>
                </a:solidFill>
              </a:rPr>
              <a:t>Override trigger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46092-4E6E-4FE6-B963-67462A82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007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C55E"/>
                </a:solidFill>
              </a:defRPr>
            </a:pPr>
            <a:r>
              <a:rPr sz="1950" b="1">
                <a:solidFill>
                  <a:srgbClr val="22C55E"/>
                </a:solidFill>
              </a:rPr>
              <a:t>Priority &gt; 0.65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2644B-BBAA-4244-8FAB-4624B191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5219700"/>
            <a:ext cx="21336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C1422"/>
          </a:solidFill>
          <a:ln xmlns:a="http://schemas.openxmlformats.org/drawingml/2006/main" w="9525">
            <a:solidFill>
              <a:srgbClr val="2232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56179-3741-4EE3-B901-EFA0855B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721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A0B9"/>
                </a:solidFill>
              </a:defRPr>
            </a:pPr>
            <a:r>
              <a:rPr sz="1050" b="0">
                <a:solidFill>
                  <a:srgbClr val="8AA0B9"/>
                </a:solidFill>
              </a:rPr>
              <a:t>Jurisdiction 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00C090-4A08-4BD3-BFF7-16CC9FC3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007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D3EE"/>
                </a:solidFill>
              </a:defRPr>
            </a:pPr>
            <a:r>
              <a:rPr sz="1950" b="1">
                <a:solidFill>
                  <a:srgbClr val="22D3EE"/>
                </a:solidFill>
              </a:rPr>
              <a:t>Fastest QRT</a:t>
            </a:r>
          </a:p>
        </p:txBody>
      </p:sp>
    </p:spTree>
    <p:extLst>
      <p:ext uri="{BB962C8B-B14F-4D97-AF65-F5344CB8AC3E}">
        <p14:creationId xmlns:p14="http://schemas.microsoft.com/office/powerpoint/2010/main" val="1284170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B018BF-04CD-40E3-B8F2-13ECEAB7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WORKING EXPLANATION / PART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6C908-6866-4768-B5D0-7F6E3C7C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718C"/>
                </a:solidFill>
              </a:defRPr>
            </a:pPr>
            <a:r>
              <a:rPr sz="975" b="1">
                <a:solidFill>
                  <a:srgbClr val="5D718C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689C3-3265-412B-BA9E-02DED4C1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6EA4E-7FB1-4095-8E1F-EC78B73E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457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48F"/>
                </a:solidFill>
              </a:defRPr>
            </a:pPr>
            <a:r>
              <a:rPr sz="825" b="0">
                <a:solidFill>
                  <a:srgbClr val="61748F"/>
                </a:solidFill>
              </a:rPr>
              <a:t>PROJECT PRAVAH / Deterministic urban response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A9346-4DAC-4B44-B9D7-3AD68D1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7FF"/>
                </a:solidFill>
              </a:defRPr>
            </a:pPr>
            <a:r>
              <a:rPr sz="2850" b="1">
                <a:solidFill>
                  <a:srgbClr val="EEF7FF"/>
                </a:solidFill>
              </a:rPr>
              <a:t>Mitigation &amp; UI: operator-in-the-loop containment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094BB-9214-4D3D-89C4-18F6824E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A0B9"/>
                </a:solidFill>
              </a:defRPr>
            </a:pPr>
            <a:r>
              <a:rPr sz="1200" b="0">
                <a:solidFill>
                  <a:srgbClr val="8AA0B9"/>
                </a:solidFill>
              </a:rPr>
              <a:t>PRAVAH recommends upstream metering and dispatch resources; it does not directly seize police, signal, or navigation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ED96E-002C-41B1-B935-11023466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790700"/>
            <a:ext cx="647700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737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83DE6-90A0-4148-8FB7-44ED7EB7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057400"/>
            <a:ext cx="1600200" cy="34480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70C15"/>
          </a:solidFill>
          <a:ln xmlns:a="http://schemas.openxmlformats.org/drawingml/2006/main" w="9525">
            <a:solidFill>
              <a:srgbClr val="1F29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FC232-6933-4D05-8235-72E59D8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A0750-F929-46AE-AF6C-DE6529F2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6098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4444">
              <a:alpha val="20000"/>
            </a:srgbClr>
          </a:solidFill>
          <a:ln xmlns:a="http://schemas.openxmlformats.org/drawingml/2006/main" w="9525">
            <a:solidFill>
              <a:srgbClr val="EF4444">
                <a:alpha val="53333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9E211-01D1-42E6-9FD0-90661915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ECACA"/>
                </a:solidFill>
              </a:defRPr>
            </a:pPr>
            <a:r>
              <a:rPr sz="825" b="1">
                <a:solidFill>
                  <a:srgbClr val="FECACA"/>
                </a:solidFill>
              </a:rPr>
              <a:t>Live Incidents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3F99C-8E3C-4722-8251-826E9070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31242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ED33D-50E8-45EF-BE31-8AC10B42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0B9"/>
                </a:solidFill>
              </a:defRPr>
            </a:pPr>
            <a:r>
              <a:rPr sz="825" b="0">
                <a:solidFill>
                  <a:srgbClr val="8AA0B9"/>
                </a:solidFill>
              </a:rPr>
              <a:t>Weather Impacts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4CB0C-6F10-41E5-B3D0-45858823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36385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7DB6A-E3AD-41C4-B650-9D919989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0B9"/>
                </a:solidFill>
              </a:defRPr>
            </a:pPr>
            <a:r>
              <a:rPr sz="825" b="0">
                <a:solidFill>
                  <a:srgbClr val="8AA0B9"/>
                </a:solidFill>
              </a:rPr>
              <a:t>Civic Works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C3752-1025-4EC3-BDFA-714123EE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41529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2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C24A1-AF64-4F94-8C63-14A9987B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0B9"/>
                </a:solidFill>
              </a:defRPr>
            </a:pPr>
            <a:r>
              <a:rPr sz="825" b="0">
                <a:solidFill>
                  <a:srgbClr val="8AA0B9"/>
                </a:solidFill>
              </a:rPr>
              <a:t>QRT Dispatch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B29AE-57FD-40D4-96D4-039F061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2057400"/>
            <a:ext cx="409575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1F31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20851-9637-4B65-88C9-71891188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266950"/>
            <a:ext cx="36385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1C2B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0CF0C-8177-427C-AF33-7C4C4FE7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955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AC14D-3CFB-4298-B3E8-14CAE7C0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95600"/>
            <a:ext cx="3257550" cy="1763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EE2D6-C281-4767-9AF1-BC19D7F1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5650"/>
            <a:ext cx="3257550" cy="1905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AD13B8-C91F-4B63-A5C1-686D6C2B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95700"/>
            <a:ext cx="3257550" cy="295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CD4E11-CB89-4C8B-A4E9-883EAF18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95750"/>
            <a:ext cx="3257550" cy="-1585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DD93E-033A-4C5C-9982-9BCC7138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95800"/>
            <a:ext cx="3257550" cy="-2009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917C8-622C-4EBC-AAFE-19679940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3257550" cy="-585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6BA665-56F5-4320-8337-A7902174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95900"/>
            <a:ext cx="3257550" cy="137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2FB6C-078C-41BF-BFC9-0E2A7B7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695950"/>
            <a:ext cx="3257550" cy="20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D4950C-1823-4050-8DED-24AEE6E3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096000"/>
            <a:ext cx="3257550" cy="863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3AEF25-6235-4082-8992-CB3966C1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496050"/>
            <a:ext cx="3257550" cy="-11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307E4E-BE64-4BBA-A2A7-CBC5E826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896100"/>
            <a:ext cx="3257550" cy="-2095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65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73BE13-5EF9-4A1D-93FE-68674ADA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19350"/>
            <a:ext cx="266700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66A98F-39BE-4CA9-AE78-FAB321C5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144099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2F0F9E-69C6-4C4D-9E42-18245A64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-110986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FD7A9A-6207-452D-9E14-D8204A1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19350"/>
            <a:ext cx="-264031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087252-2E8C-42F9-875A-56294E1A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19350"/>
            <a:ext cx="-174327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1392AD-CC0E-4009-A2B0-C8539FE3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19350"/>
            <a:ext cx="75653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A83882-19D6-4CEB-89FB-40D0B159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256077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41AD60-E9EF-4F3B-9EF8-3B320ADD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201066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D6FC0F-419E-4FA7-842C-36C5FA83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19350"/>
            <a:ext cx="-38805" cy="1581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D2B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D5CAC7-D7AC-4D83-A95E-79B3AD27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209550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EF444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E96661-2362-489C-833A-8B75FF90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ECACA"/>
                </a:solidFill>
              </a:defRPr>
            </a:pPr>
            <a:r>
              <a:rPr sz="1050" b="1">
                <a:solidFill>
                  <a:srgbClr val="FECACA"/>
                </a:solidFill>
              </a:rPr>
              <a:t>Ghost Queue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EB96FC-8921-4D0B-BE90-476A9C1A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3695700"/>
            <a:ext cx="190500" cy="2667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FECACA">
                <a:alpha val="33333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C69C31-6DEC-429B-AB0F-2C7FEC50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581400"/>
            <a:ext cx="190500" cy="2667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FECACA">
                <a:alpha val="33333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39A9ED-CFA7-421F-A5A8-9961E64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3467100"/>
            <a:ext cx="190500" cy="2667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FECACA">
                <a:alpha val="33333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DCE55A-81FB-4655-8CA8-6732C81E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352800"/>
            <a:ext cx="190500" cy="2667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FECACA">
                <a:alpha val="33333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8B4A4A-DA0E-46C6-B879-172D6E1A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3238500"/>
            <a:ext cx="190500" cy="2667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FECACA">
                <a:alpha val="33333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61B165-6C79-483A-917C-A7B9D665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4552950"/>
            <a:ext cx="1924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B7BC6D-B377-4C31-972A-7EF5691B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Volatility Warning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93CA84-F71A-4FE8-83B9-2F31C3CE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0B9"/>
                </a:solidFill>
              </a:defRPr>
            </a:pPr>
            <a:r>
              <a:rPr sz="825" b="0">
                <a:solidFill>
                  <a:srgbClr val="8AA0B9"/>
                </a:solidFill>
              </a:rPr>
              <a:t>Confidence degraded when historical variance is high.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EC4FF3-7D14-4409-A369-F9D60031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552950"/>
            <a:ext cx="1924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>
                <a:alpha val="53333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8D7E48-D9F7-4B19-851F-9B9004B2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62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Signal Gating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69C560-6FA3-4467-985B-6EBFB909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A0B9"/>
                </a:solidFill>
              </a:defRPr>
            </a:pPr>
            <a:r>
              <a:rPr sz="825" b="0">
                <a:solidFill>
                  <a:srgbClr val="8AA0B9"/>
                </a:solidFill>
              </a:rPr>
              <a:t>Meter release to residual capacity; preserve green wave.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F020E2-2FFB-4714-B46C-366432DB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038350"/>
            <a:ext cx="34290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0C1422"/>
          </a:solidFill>
          <a:ln xmlns:a="http://schemas.openxmlformats.org/drawingml/2006/main" w="9525">
            <a:solidFill>
              <a:srgbClr val="27374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03B82B-E50D-4234-AC2F-3705A014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</a:defRPr>
            </a:pPr>
            <a:r>
              <a:rPr sz="1800" b="1">
                <a:solidFill>
                  <a:srgbClr val="22D3EE"/>
                </a:solidFill>
              </a:rPr>
              <a:t>Upstream Signal Gating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A7CFC9-91B3-4101-BC8C-52FCC0AB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A0B9"/>
                </a:solidFill>
              </a:defRPr>
            </a:pPr>
            <a:r>
              <a:rPr sz="1050" b="0">
                <a:solidFill>
                  <a:srgbClr val="8AA0B9"/>
                </a:solidFill>
              </a:rPr>
              <a:t>Offset recalibration meters inflow to the residual capacity of the blocked link; operator approval remains mandatory.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68C9A7-2780-4B88-8302-E4C5A1B1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562350"/>
            <a:ext cx="34290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0C1422"/>
          </a:solidFill>
          <a:ln xmlns:a="http://schemas.openxmlformats.org/drawingml/2006/main" w="9525">
            <a:solidFill>
              <a:srgbClr val="27374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AD1AAB-12EA-45BD-9A2D-B38B1102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90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C55E"/>
                </a:solidFill>
              </a:defRPr>
            </a:pPr>
            <a:r>
              <a:rPr sz="1800" b="1">
                <a:solidFill>
                  <a:srgbClr val="22C55E"/>
                </a:solidFill>
              </a:rPr>
              <a:t>Preemption Protocol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FB3C30-57D7-4DFC-9C2F-38575DF4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719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A0B9"/>
                </a:solidFill>
              </a:defRPr>
            </a:pPr>
            <a:r>
              <a:rPr sz="1050" b="0">
                <a:solidFill>
                  <a:srgbClr val="8AA0B9"/>
                </a:solidFill>
              </a:rPr>
              <a:t>Additive priority score orders simultaneous crashes by severity, inflow, and lane-loss ratio before routing QRTs.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4BD6A7-6650-4A90-BC0D-FAE6A665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5086350"/>
            <a:ext cx="342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1EB9CA-84E7-4793-934A-4C32A8DC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14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EE2E2"/>
                </a:solidFill>
              </a:defRPr>
            </a:pPr>
            <a:r>
              <a:rPr sz="1125" b="1">
                <a:solidFill>
                  <a:srgbClr val="FEE2E2"/>
                </a:solidFill>
              </a:rPr>
              <a:t>Operator sees: barricades, officers, closure pattern, upstream node, and approval gate.</a:t>
            </a:r>
          </a:p>
        </p:txBody>
      </p:sp>
    </p:spTree>
    <p:extLst>
      <p:ext uri="{BB962C8B-B14F-4D97-AF65-F5344CB8AC3E}">
        <p14:creationId xmlns:p14="http://schemas.microsoft.com/office/powerpoint/2010/main" val="161094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41C38E-5718-4027-B26A-289687A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FEASIBILITY, IMPACT &amp;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5246E-0BE5-41CB-B0C2-1C8ABE74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3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718C"/>
                </a:solidFill>
              </a:defRPr>
            </a:pPr>
            <a:r>
              <a:rPr sz="975" b="1">
                <a:solidFill>
                  <a:srgbClr val="5D718C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DFDF9-D1DE-4989-AF84-5CFAFADE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2A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61CE0-CB43-4A81-8628-6F717CFB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457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48F"/>
                </a:solidFill>
              </a:defRPr>
            </a:pPr>
            <a:r>
              <a:rPr sz="825" b="0">
                <a:solidFill>
                  <a:srgbClr val="61748F"/>
                </a:solidFill>
              </a:rPr>
              <a:t>PROJECT PRAVAH / Deterministic urban response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CFAF9-2187-4054-8FCD-249CC022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EF7FF"/>
                </a:solidFill>
              </a:defRPr>
            </a:pPr>
            <a:r>
              <a:rPr sz="3300" b="1">
                <a:solidFill>
                  <a:srgbClr val="EEF7FF"/>
                </a:solidFill>
              </a:rPr>
              <a:t>Day-one feasible. City-wide scalable.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94301-6364-4E1A-A151-3AE36E04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AA0B9"/>
                </a:solidFill>
              </a:defRPr>
            </a:pPr>
            <a:r>
              <a:rPr sz="1200" b="0">
                <a:solidFill>
                  <a:srgbClr val="8AA0B9"/>
                </a:solidFill>
              </a:rPr>
              <a:t>MVP runs on existing ASTraM history and deterministic simulation. Live sensors, PostGIS, ATCS automation, and ride-hailing geofences are extensions.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DFC3A-EC52-4586-AAD8-318894BD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962150"/>
            <a:ext cx="21907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C1422"/>
          </a:solidFill>
          <a:ln xmlns:a="http://schemas.openxmlformats.org/drawingml/2006/main" w="9525">
            <a:solidFill>
              <a:srgbClr val="2232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BD4B3-E27D-43B3-800A-D9DABC59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A0B9"/>
                </a:solidFill>
              </a:defRPr>
            </a:pPr>
            <a:r>
              <a:rPr sz="1050" b="0">
                <a:solidFill>
                  <a:srgbClr val="8AA0B9"/>
                </a:solidFill>
              </a:rPr>
              <a:t>ASTraM records validated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2254B-8AF3-489D-B629-A89CD0FE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D3EE"/>
                </a:solidFill>
              </a:defRPr>
            </a:pPr>
            <a:r>
              <a:rPr sz="1950" b="1">
                <a:solidFill>
                  <a:srgbClr val="22D3EE"/>
                </a:solidFill>
              </a:rPr>
              <a:t>8,173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B03AA-80BB-4C96-86E3-40D3E044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1962150"/>
            <a:ext cx="17145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C1422"/>
          </a:solidFill>
          <a:ln xmlns:a="http://schemas.openxmlformats.org/drawingml/2006/main" w="9525">
            <a:solidFill>
              <a:srgbClr val="223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DB5E0-1DA1-4C3B-BDDA-A925C10C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1455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A0B9"/>
                </a:solidFill>
              </a:defRPr>
            </a:pPr>
            <a:r>
              <a:rPr sz="1050" b="0">
                <a:solidFill>
                  <a:srgbClr val="8AA0B9"/>
                </a:solidFill>
              </a:rPr>
              <a:t>Rejected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84299-1571-4ED2-9EBC-F07EE8C7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431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C55E"/>
                </a:solidFill>
              </a:defRPr>
            </a:pPr>
            <a:r>
              <a:rPr sz="1950" b="1">
                <a:solidFill>
                  <a:srgbClr val="22C55E"/>
                </a:solidFill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5A44D-8FF4-4E54-B451-A31BF515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100" y="1962150"/>
            <a:ext cx="180975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C1422"/>
          </a:solidFill>
          <a:ln xmlns:a="http://schemas.openxmlformats.org/drawingml/2006/main" w="9525">
            <a:solidFill>
              <a:srgbClr val="2232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6E958-08A5-489E-B8A0-185D8E76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145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A0B9"/>
                </a:solidFill>
              </a:defRPr>
            </a:pPr>
            <a:r>
              <a:rPr sz="1050" b="0">
                <a:solidFill>
                  <a:srgbClr val="8AA0B9"/>
                </a:solidFill>
              </a:rPr>
              <a:t>Simulation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46CF3-773C-4537-9223-737BAA83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B5CF6"/>
                </a:solidFill>
              </a:defRPr>
            </a:pPr>
            <a:r>
              <a:rPr sz="1950" b="1">
                <a:solidFill>
                  <a:srgbClr val="8B5CF6"/>
                </a:solidFill>
              </a:rPr>
              <a:t>2.0.0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7A3D8-13FC-453C-B70D-B65D3911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105150"/>
            <a:ext cx="466725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737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D442B-550A-412C-BB77-AF958080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D3EE"/>
                </a:solidFill>
              </a:defRPr>
            </a:pPr>
            <a:r>
              <a:rPr sz="1800" b="1">
                <a:solidFill>
                  <a:srgbClr val="22D3EE"/>
                </a:solidFill>
              </a:rPr>
              <a:t>PRAVAH vs. baseline SOP</a:t>
            </a:r>
          </a:p>
        </p:txBody>
      </p:sp>
      <p:graphicFrame>
        <p:nvGraphicFramePr>
          <p:cNvPr id="47" name="Chart"/>
          <p:cNvGraphicFramePr/>
          <p:nvPr/>
        </p:nvGraphicFramePr>
        <p:xfrm>
          <a:off xmlns:a="http://schemas.openxmlformats.org/drawingml/2006/main" x="876300" y="3733800"/>
          <a:ext xmlns:a="http://schemas.openxmlformats.org/drawingml/2006/main" cx="3905250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caea24fc704276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DF30E-1243-4D01-B0CA-87835CBF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3105150"/>
            <a:ext cx="4857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C1422"/>
          </a:solidFill>
          <a:ln xmlns:a="http://schemas.openxmlformats.org/drawingml/2006/main" w="9525">
            <a:solidFill>
              <a:srgbClr val="2737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177B8-019E-42A3-B336-4C253C09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C55E"/>
                </a:solidFill>
              </a:defRPr>
            </a:pPr>
            <a:r>
              <a:rPr sz="1425" b="1">
                <a:solidFill>
                  <a:srgbClr val="22C55E"/>
                </a:solidFill>
              </a:rPr>
              <a:t>Feasibility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49D5F-F1D8-42B5-AEC2-812A8813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A0B9"/>
                </a:solidFill>
              </a:defRPr>
            </a:pPr>
            <a:r>
              <a:rPr sz="975" b="0">
                <a:solidFill>
                  <a:srgbClr val="8AA0B9"/>
                </a:solidFill>
              </a:rPr>
              <a:t>Existing cleaned ASTraM CSV, reproducible seed, operator-reviewed API payloads.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949B6-467E-4BDD-8183-6C86F01C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3905250"/>
            <a:ext cx="4857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C1422"/>
          </a:solidFill>
          <a:ln xmlns:a="http://schemas.openxmlformats.org/drawingml/2006/main" w="9525">
            <a:solidFill>
              <a:srgbClr val="2737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4293A-539D-43B4-B46C-2054C5C0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3EE"/>
                </a:solidFill>
              </a:defRPr>
            </a:pPr>
            <a:r>
              <a:rPr sz="1425" b="1">
                <a:solidFill>
                  <a:srgbClr val="22D3EE"/>
                </a:solidFill>
              </a:rPr>
              <a:t>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4091CC-400D-4E3B-A4BC-A7FC9E89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386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A0B9"/>
                </a:solidFill>
              </a:defRPr>
            </a:pPr>
            <a:r>
              <a:rPr sz="975" b="0">
                <a:solidFill>
                  <a:srgbClr val="8AA0B9"/>
                </a:solidFill>
              </a:rPr>
              <a:t>Faster containment, less transverse spillback, objective Delta-T feedback.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B4FED-E8FF-4A01-89D7-88926C27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4705350"/>
            <a:ext cx="4857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C1422"/>
          </a:solidFill>
          <a:ln xmlns:a="http://schemas.openxmlformats.org/drawingml/2006/main" w="9525">
            <a:solidFill>
              <a:srgbClr val="2737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1E3BFD-98FB-46E7-8A6D-4C60E066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38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B5CF6"/>
                </a:solidFill>
              </a:defRPr>
            </a:pPr>
            <a:r>
              <a:rPr sz="1425" b="1">
                <a:solidFill>
                  <a:srgbClr val="8B5CF6"/>
                </a:solidFill>
              </a:rPr>
              <a:t>Future 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66AD2-FD64-427A-8674-38061B7E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A0B9"/>
                </a:solidFill>
              </a:defRPr>
            </a:pPr>
            <a:r>
              <a:rPr sz="975" b="0">
                <a:solidFill>
                  <a:srgbClr val="8AA0B9"/>
                </a:solidFill>
              </a:rPr>
              <a:t>PostGIS city graph + ride-hailing geofence synchronization for stadium-scale events.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E7C756-DECB-4AAD-96EB-84ACC3E4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1943100"/>
            <a:ext cx="31432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0F172A">
              <a:alpha val="80000"/>
            </a:srgbClr>
          </a:solidFill>
          <a:ln xmlns:a="http://schemas.openxmlformats.org/drawingml/2006/main" w="9525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504AA-7DD5-43BF-9E28-6A97A69F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90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CFCE7"/>
                </a:solidFill>
              </a:defRPr>
            </a:pPr>
            <a:r>
              <a:rPr sz="1725" b="1">
                <a:solidFill>
                  <a:srgbClr val="DCFCE7"/>
                </a:solidFill>
              </a:rPr>
              <a:t>Day 1 deployment avoids expensive live sensors.</a:t>
            </a:r>
          </a:p>
        </p:txBody>
      </p:sp>
    </p:spTree>
    <p:extLst>
      <p:ext uri="{BB962C8B-B14F-4D97-AF65-F5344CB8AC3E}">
        <p14:creationId xmlns:p14="http://schemas.microsoft.com/office/powerpoint/2010/main" val="487254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143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514350" dist="190500" dir="540000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2026-06-20T12:04:27.0040000Z</dcterms:created>
  <dcterms:modified xsi:type="dcterms:W3CDTF">2026-06-20T12:04:27.0050000Z</dcterms:modified>
</coreProperties>
</file>